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潮目は、世界46市場を横断して「いつもと違う動き」を自動で見つける道具です。前半は運用、後半は指標の読み方を扱います。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195項目は analytics 30・sources 16・build 36・chart 28・daily 58・notify 27 の合計。実測値。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600" kern="0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潮 目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運用と指標の手引き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世界46市場を15分ごとにスキャンし、いつもと違う動きだけを上に出す。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 版　　pythonddd.github.io/Market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38160" y="1828800"/>
            <a:ext cx="2743200" cy="2743200"/>
          </a:xfrm>
          <a:prstGeom prst="roundRect">
            <a:avLst>
              <a:gd name="adj" fmla="val 10000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0" y="2788920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0" y="3611880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84387" y="2833749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84387" y="3567051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64854" y="2877194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64854" y="3523606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45322" y="2917911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45322" y="3482889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5789" y="2954642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5789" y="3446158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06256" y="2986254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06256" y="3414546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86723" y="3011768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86723" y="3389032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67190" y="3030398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67190" y="3370402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7658" y="3041567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7658" y="3359233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28125" y="3044930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28125" y="3355870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08592" y="3040383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08592" y="3360417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89059" y="3028067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89059" y="3372733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69526" y="3008362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69526" y="3392438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49994" y="2981878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49994" y="3418922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30461" y="2949431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30461" y="3451369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10928" y="2912026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10928" y="3488774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91395" y="2870817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91395" y="3529983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71862" y="2827078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71862" y="3573722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952330" y="2782160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52330" y="3618640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032797" y="2737450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32797" y="3663350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13264" y="2694331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13264" y="3706469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93731" y="2654135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193731" y="3746665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274198" y="2618102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74198" y="3782698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354666" y="2587348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354666" y="3813452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435133" y="2562821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435133" y="3837979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15600" y="2545279"/>
            <a:ext cx="91440" cy="91440"/>
          </a:xfrm>
          <a:prstGeom prst="ellipse">
            <a:avLst/>
          </a:prstGeom>
          <a:solidFill>
            <a:srgbClr val="84D2F5"/>
          </a:solidFill>
          <a:ln w="12700">
            <a:solidFill>
              <a:srgbClr val="84D2F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515600" y="3855521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82328" y="2240280"/>
            <a:ext cx="54864" cy="1920240"/>
          </a:xfrm>
          <a:prstGeom prst="rect">
            <a:avLst/>
          </a:prstGeom>
          <a:solidFill>
            <a:srgbClr val="B0F1F0"/>
          </a:solidFill>
          <a:ln w="12700">
            <a:solidFill>
              <a:srgbClr val="B0F1F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3258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潮目とは何か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5506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5506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何を見て、何を見ないか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8424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9842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全体の流れ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134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134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使うデータ源と、その制約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426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6426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46銘柄の内訳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718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9718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ファイルの構成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0098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3009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15分ごとに何が起きているか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3016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6301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Actions はいつ動くのか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9593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9593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黄色い帯の意味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2885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2885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朝の便り — なぜ2段構えか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6177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46177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朝の便りの読み方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9469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49469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異常通知が飛ぶ条件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2760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2760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設定に必要なもの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6052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56052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手元で使うコマンド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93445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593445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止まったときに見る順番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13258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720840" y="13258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壊れても止まらないための仕掛け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165506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720840" y="165506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読む前に押さえる3つの前提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217920" y="198424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720840" y="19842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zスコア — 「いつもと違う」の物差し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17920" y="23134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720840" y="23134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今日の異常 — 値動きと関係を分けて出す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217920" y="26426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720840" y="26426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リスク選好 — 市場全体の温度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217920" y="29718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720840" y="29718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ビットコインの分解 — αとβ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6217920" y="330098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720840" y="33009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連動の推移 — 30日ローリング相関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217920" y="363016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720840" y="36301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相関の壊れ度 — 分散が効かなくなる瞬間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6217920" y="39593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720840" y="39593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リード・ラグ — どちらが先に動くか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6217920" y="42885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720840" y="42885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曜日と月のくせ — 弱いものは弱いと書く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6217920" y="46177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6720840" y="46177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分布の中の位置 — パーセンタイル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6217920" y="49469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6720840" y="49469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似た局面のその後 — 予測ではない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6217920" y="52760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6720840" y="52760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暗号資産の温度 — 4つの外部指標</a:t>
            </a:r>
            <a:endParaRPr lang="en-US" sz="1150" dirty="0"/>
          </a:p>
        </p:txBody>
      </p:sp>
      <p:sp>
        <p:nvSpPr>
          <p:cNvPr id="59" name="Text 57"/>
          <p:cNvSpPr txBox="1"/>
          <p:nvPr/>
        </p:nvSpPr>
        <p:spPr>
          <a:xfrm>
            <a:off x="6217920" y="56052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6720840" y="56052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この数字を売買に使ってよいか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 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06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運用編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どう動いていて、止まったら何を見るか。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潮目とは何か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世界の株式・為替・商品・金利・暗号資産を横断してスキャンし、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過去の分布から見て「いつもと違う」ものだけを上に出すサイトです。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Pages 上で動き、費用はかかりません。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16382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46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67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銘柄を横断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3017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316382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4D2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767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画面の区画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16382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D6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195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767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セルフテスト項目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06840" y="3017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9720" y="316382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0円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37673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運用費用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66344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68172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主眼は「仮想通貨と世界株式の相関、およびその崩れの検知」。値上がりする銘柄を当てる道具ではありません。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44068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FFEB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45896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公開データをまとめて表示しているだけのサイトです。投資助言ではありません。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何を見て、何を見ないか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運用編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D6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見るもの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過去の分布から見た「異常さ」（zスコア）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資産どうしの連動と、その崩れ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分散が効かなくなる瞬間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取得に失敗した銘柄（隠さず出す）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統計的に弱い数字は「弱い」と明示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見ないもの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1488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将来の価格予測（一切しない）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売買の推奨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板・ティックなどの短期データ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リアルタイム性（15分〜数時間の遅れ）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標本が足りない統計（描かずに理由を出す）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589788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91616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「似た局面のその後」も予測ではなく、過去の実績分布です。独立した局面が15回に満たなければグラフ自体を描きません。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全体の流れ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運用編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65960"/>
            <a:ext cx="411480" cy="411480"/>
          </a:xfrm>
          <a:prstGeom prst="ellipse">
            <a:avLst/>
          </a:prstGeom>
          <a:solidFill>
            <a:srgbClr val="84D2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025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データ取得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Yahoo・Coinbase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CoinGecko 他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82112" y="2514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3B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20440" y="173736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1965960"/>
            <a:ext cx="411480" cy="411480"/>
          </a:xfrm>
          <a:prstGeom prst="ellipse">
            <a:avLst/>
          </a:prstGeom>
          <a:solidFill>
            <a:srgbClr val="B0F1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49040" y="20025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外部ライブラリ無し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の純Python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062472" y="2514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3B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0" y="173736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0" y="196596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20025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配信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Pages 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直接アップロード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42832" y="2514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3B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281160" y="173736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09760" y="1965960"/>
            <a:ext cx="411480" cy="411480"/>
          </a:xfrm>
          <a:prstGeom prst="ellipse">
            <a:avLst/>
          </a:prstGeom>
          <a:solidFill>
            <a:srgbClr val="3FD68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509760" y="20025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509760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朝の便り／異常通知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02336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04164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データはリポジトリにコミットしません。15分ごとにコミットすると年間数万件になるため、成果物を直接配信しています。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480060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481888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その代わり、配信のたびに docs フォルダが丸ごと置き換わります。画像や送信記録は毎回「引き継ぐ」処理で持ち越しています。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557784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FFEB3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559612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したがって Actions が動かない限り、サイトは1文字も変わりません。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使うデータ源と、その制約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運用編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solidFill>
            <a:srgbClr val="1E2E39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46304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870448" y="146304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取得元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887968" y="14630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2880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株価指数・先物・商品・為替・金利 43銘柄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182880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Yahoo Finance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87968" y="182880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公式APIではない。代替なし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19456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219456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暗号資産の日足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870448" y="219456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Coinbase（控えに Kraken）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887968" y="219456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約350暦日ぶんしか取れない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56032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256032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時価総額・ドミナンス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870448" y="256032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CoinGecko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887968" y="25603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キー不要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292608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292608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資金調達レート・建玉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70448" y="292608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Hyperliquid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887968" y="292608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funding は1時間あたりの値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329184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恐怖強欲指数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870448" y="329184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alternative.me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887968" y="32918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1148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使えないもの（実測で落ちたもの）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47091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Stooq … HTTP 200 を返すが中身は検証ページ。日本・米国どちらのIPからも遮断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Binance（米国IPから451）／Bybit（同403）… GitHub のランナーは米国なので本番で必ず落ちる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566928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FFEB3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568756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単一障害点：株価指数の取得先が Yahoo 一本。ここが止まると株式側が全部止まります。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46銘柄の内訳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米国株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0" y="1636776"/>
            <a:ext cx="5852160" cy="201168"/>
          </a:xfrm>
          <a:prstGeom prst="rect">
            <a:avLst/>
          </a:prstGeom>
          <a:solidFill>
            <a:srgbClr val="1E2E39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1636776"/>
            <a:ext cx="5852160" cy="201168"/>
          </a:xfrm>
          <a:prstGeom prst="rect">
            <a:avLst/>
          </a:prstGeom>
          <a:solidFill>
            <a:srgbClr val="84D2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4692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アジア株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0" y="2093976"/>
            <a:ext cx="5852160" cy="201168"/>
          </a:xfrm>
          <a:prstGeom prst="rect">
            <a:avLst/>
          </a:prstGeom>
          <a:solidFill>
            <a:srgbClr val="1E2E39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2093976"/>
            <a:ext cx="5852160" cy="201168"/>
          </a:xfrm>
          <a:prstGeom prst="rect">
            <a:avLst/>
          </a:prstGeom>
          <a:solidFill>
            <a:srgbClr val="84D2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46920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為替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0" y="2551176"/>
            <a:ext cx="5852160" cy="201168"/>
          </a:xfrm>
          <a:prstGeom prst="rect">
            <a:avLst/>
          </a:prstGeom>
          <a:solidFill>
            <a:srgbClr val="1E2E39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0" y="2551176"/>
            <a:ext cx="5852160" cy="201168"/>
          </a:xfrm>
          <a:prstGeom prst="rect">
            <a:avLst/>
          </a:prstGeom>
          <a:solidFill>
            <a:srgbClr val="84D2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46920" y="2468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0" y="3008376"/>
            <a:ext cx="5852160" cy="201168"/>
          </a:xfrm>
          <a:prstGeom prst="rect">
            <a:avLst/>
          </a:prstGeom>
          <a:solidFill>
            <a:srgbClr val="1E2E39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0" y="3008376"/>
            <a:ext cx="5120640" cy="201168"/>
          </a:xfrm>
          <a:prstGeom prst="rect">
            <a:avLst/>
          </a:prstGeom>
          <a:solidFill>
            <a:srgbClr val="84D2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46920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先物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0" y="3465576"/>
            <a:ext cx="5852160" cy="201168"/>
          </a:xfrm>
          <a:prstGeom prst="rect">
            <a:avLst/>
          </a:prstGeom>
          <a:solidFill>
            <a:srgbClr val="1E2E39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0" y="3465576"/>
            <a:ext cx="2926080" cy="201168"/>
          </a:xfrm>
          <a:prstGeom prst="rect">
            <a:avLst/>
          </a:prstGeom>
          <a:solidFill>
            <a:srgbClr val="84D2F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46920" y="3383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欧州株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57600" y="3922776"/>
            <a:ext cx="5852160" cy="201168"/>
          </a:xfrm>
          <a:prstGeom prst="rect">
            <a:avLst/>
          </a:prstGeom>
          <a:solidFill>
            <a:srgbClr val="1E2E39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0" y="3922776"/>
            <a:ext cx="2926080" cy="201168"/>
          </a:xfrm>
          <a:prstGeom prst="rect">
            <a:avLst/>
          </a:prstGeom>
          <a:solidFill>
            <a:srgbClr val="84D2F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46920" y="3840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297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金利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57600" y="4379976"/>
            <a:ext cx="5852160" cy="201168"/>
          </a:xfrm>
          <a:prstGeom prst="rect">
            <a:avLst/>
          </a:prstGeom>
          <a:solidFill>
            <a:srgbClr val="1E2E39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0" y="4379976"/>
            <a:ext cx="2194560" cy="201168"/>
          </a:xfrm>
          <a:prstGeom prst="rect">
            <a:avLst/>
          </a:prstGeom>
          <a:solidFill>
            <a:srgbClr val="84D2F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46920" y="4297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754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暗号資産（Yahoo照合用）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657600" y="4837176"/>
            <a:ext cx="5852160" cy="201168"/>
          </a:xfrm>
          <a:prstGeom prst="rect">
            <a:avLst/>
          </a:prstGeom>
          <a:solidFill>
            <a:srgbClr val="1E2E39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4837176"/>
            <a:ext cx="731520" cy="201168"/>
          </a:xfrm>
          <a:prstGeom prst="rect">
            <a:avLst/>
          </a:prstGeom>
          <a:solidFill>
            <a:srgbClr val="84D2F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4692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212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暗号資産（Coinbase）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657600" y="5294376"/>
            <a:ext cx="5852160" cy="201168"/>
          </a:xfrm>
          <a:prstGeom prst="rect">
            <a:avLst/>
          </a:prstGeom>
          <a:solidFill>
            <a:srgbClr val="1E2E39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0" y="5294376"/>
            <a:ext cx="2194560" cy="201168"/>
          </a:xfrm>
          <a:prstGeom prst="rect">
            <a:avLst/>
          </a:prstGeom>
          <a:solidFill>
            <a:srgbClr val="84D2F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646920" y="5212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10424160" y="15544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424160" y="1691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46</a:t>
            </a:r>
            <a:endParaRPr lang="en-US" sz="3000" dirty="0"/>
          </a:p>
        </p:txBody>
      </p:sp>
      <p:sp>
        <p:nvSpPr>
          <p:cNvPr id="43" name="Text 41"/>
          <p:cNvSpPr txBox="1"/>
          <p:nvPr/>
        </p:nvSpPr>
        <p:spPr>
          <a:xfrm>
            <a:off x="1042416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" y="576072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FFEB3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2960" y="577900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銘柄表を変えたら、必ず一度「履歴を取り直す」で実行すること。通常の実行は履歴キャッシュを使い回すので、新しい銘柄を拾えません。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ファイルの構成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scripts/sources.py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5087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取得層。銘柄定義 SYMBOLS もここ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scripts/analytics.py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0116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分析ロジック。外部ライブラリなしの純Python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14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scripts/build.py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514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全体を束ねて latest.json / history.json を作る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017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scripts/chart.py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30175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朝の便りの画像を描く。zlibとビットフォントだけ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204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scripts/daily.py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5204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朝の便り。時刻を見て描画／送信を決める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023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scripts/notify.py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40233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しきい値に触れたときだけ通知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526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scripts/probe.py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45262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銘柄記号が本当に取れるか実際に叩いて確かめる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029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docs/index.html / app.js / style.css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5029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画面。中身は app.js が埋める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532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.github/workflows/update.yml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55321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15分ごとの実行と配信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608076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609904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docs/data/ の中身（latest.json・画像・送信記録）は生成物です。リポジトリにはコミットされません。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15分ごとに何が起きているか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運用編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91056"/>
            <a:ext cx="310896" cy="310896"/>
          </a:xfrm>
          <a:prstGeom prst="ellipse">
            <a:avLst/>
          </a:prstGeom>
          <a:solidFill>
            <a:srgbClr val="3FD6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0934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554480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セルフテスト（落ちたら配信しない）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847088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249424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2677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212848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データ取得と分析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2505456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907792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9260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2871216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前回の配信物を引き継ぐ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3163824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58444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" y="3529584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朝の便り（描く／送る／何もしない）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3822192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224528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2428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" y="4187952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異常通知の判定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" y="4480560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882896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90118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" y="4846320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Pages へ配信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078992" y="5138928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62356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64184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セルフテストを先頭に置いてあるので、計算が壊れた状態のデータは外に出ません。「配信されない」は「壊れたものを出さなかった」の意味でもあります。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Actions はいつ動くのか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動くきっかけは3つだけ。値は一切関係ありません。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881360" cy="365760"/>
          </a:xfrm>
          <a:prstGeom prst="rect">
            <a:avLst/>
          </a:prstGeom>
          <a:solidFill>
            <a:srgbClr val="1E2E39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92024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きっかけ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1920240"/>
            <a:ext cx="7552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28600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schedule（予約）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858768" y="2286000"/>
            <a:ext cx="7552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毎時 4・19・34・49分（UTC）＋朝の便り用に4本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65176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push（コミット）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858768" y="2651760"/>
            <a:ext cx="7552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にファイルを変更したとき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01752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workflow_dispatch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858768" y="3017520"/>
            <a:ext cx="7552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Run workflow を手で押したとき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実測：予約の8割以上は間引かれる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1605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2026-09-04 の8時間で、15分ごとなら32回のはずが実際は6回。間隔は最長2時間36分。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これは無料の共有ランナーの仕様で、設定でも書き方でも直りません。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確実に15分ごとに動かしたい場合は、手元のPCから叩く方式に変える必要があります。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FFEB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50468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「異常値が出たときだけ動く」のではありません。Actions が動かない限り、サイトは更新されません。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黄色い帯の意味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運用編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出ていても異常ではない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94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データが90分以上古いと出ます。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予約が間引かれるため、1〜2時間空くのは平常です。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半日以上動いていなければ、本当に止まっています。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737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別の帯：取得失敗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194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取得に失敗した銘柄は前回値のまま残り、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銘柄名を挙げて警告します。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黙って古い値を新しい顔で出すことはしません。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10881360" cy="365760"/>
          </a:xfrm>
          <a:prstGeom prst="rect">
            <a:avLst/>
          </a:prstGeom>
          <a:solidFill>
            <a:srgbClr val="1E2E39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7947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379476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973568" y="3794760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すること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16052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D6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緑の点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944368" y="416052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90分以内に更新されている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973568" y="4160520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なし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52628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黄の帯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944368" y="452628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90分以上古い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973568" y="4526280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半日続くなら Actions を見る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489204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赤の帯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944368" y="489204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データそのものが読めない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973568" y="4892040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実行ログを見る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76072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577900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しきい値90分は実測に合わせた値です。60分では平常時にも鳴り続け、警告として機能していませんでした。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朝の便り — なぜ2段構えか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LINEの画像メッセージは「公開済みのHTTPS URL」しか受け付けません。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画像がPagesに載る前に送っても、相手には出ません。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331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4D2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8:40以降の実行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3317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画像を描いて docs/data に置く。その回の配信で公開される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D6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9:00以降の実行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2004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公開されたURLを確かめてから送る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069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11:00を過ぎたら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40690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その日はもう送らない。翌朝に回す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3892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到着はおおむね9時00分〜9時20分。GitHubの予約は遅れるため、9時ちょうどは構造的に保証できません。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89788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91616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画像の公開が確認できないときは4回（約1時間）まで待ち、それでも駄目なら画像を諦めて文字だけ送ります。黙って落としません。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朝の便りの読み方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運用編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1つめ：要約（Flex）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リスク選好（−100〜+100とゲージ）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ビットコインの価格と前日比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S&amp;P500との30日相関、感応度β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恐怖強欲指数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大きく動いたもの 上位5件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取得できた銘柄数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577840" cy="4114800"/>
          </a:xfrm>
          <a:prstGeom prst="roundRect">
            <a:avLst>
              <a:gd name="adj" fmla="val 1778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2つめ：図（画像1枚）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14884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リスク選好の180営業日の推移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ビットコインの直近30営業日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BTCの30日相関 4本（SPX/NDX/金/ドル）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大きく動いたもの 上位8件のzスコア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指で開くと拡大できる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580644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82472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吹き出しは2つですが、LINEの課金上は1通です（送信対象の人数で数えるため）。画像の中の文字は英数字のみ。日本語は要約側に載せています。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異常通知が飛ぶ条件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運用編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solidFill>
            <a:srgbClr val="1E2E39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46304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041648" y="14630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しきい値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84848" y="1463040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2880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値動きの異常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041648" y="182880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2.5σ 以上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828800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過去1年の分布から見て珍しい動き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19456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219456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相関の異常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041648" y="219456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2.0σ 以上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784848" y="2194560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30日相関が1年平均から離れた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56032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256032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相関の符号反転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041648" y="25603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0をまたぐ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2560320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連動が逆転した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292608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292608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リスク選好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041648" y="292608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±60 以上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784848" y="2926080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極端なリスクオン／オフ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329184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取得失敗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041648" y="32918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1銘柄でも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3291840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データが欠けた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384048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4023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連投を防ぐ仕組み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44348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前回と同じ理由の組み合わせなら送らない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前回送信から最低90分空ける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384048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37960" y="4023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送りすぎを防ぐ仕組み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537960" y="44348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異常通知は月120通まで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朝の便り（月約31通）と無料枠200通を分け合う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566928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568756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送るものが無い回でも、送信記録は必ず書き出します。書き出さないと配信のたびに記録が消え、連投防止が効かなくなるためです。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設定に必要なもの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運用編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36776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5506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600200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 Developers でチャネルを作る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892808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Messaging API のチャネル。無料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551176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56946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514600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Secrets に2つ登録する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2807208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LINE_TOKEN（アクセストークン）と LINE_USER_ID（U で始まる33文字）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465576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48386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429000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自分でそのアカウントを友だち追加する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3721608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友だちでないユーザーには push できない。忘れると 400 で落ちる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379976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39826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" y="4343400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テスト送信で確かめる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4636008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Run workflow →「LINEにテスト送信」に印。1通だけ送って終わる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39496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FFEB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41324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トークンはコードに書きません。このリポジトリは公開されているため、書けば誰でもあなたのアカウントからメッセージを送れます。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617220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619048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変数名は turtle_v2 と同じ LINE_TOKEN / LINE_USER_ID に揃えてあります。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手元で使うコマンド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運用編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solidFill>
            <a:srgbClr val="18242D"/>
          </a:solidFill>
          <a:ln w="12700">
            <a:solidFill>
              <a:srgbClr val="0E16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scripts/build.py --selftest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554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ネット無しで全体を検証（82項目）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0881360" cy="457200"/>
          </a:xfrm>
          <a:prstGeom prst="rect">
            <a:avLst/>
          </a:prstGeom>
          <a:solidFill>
            <a:srgbClr val="0E161C"/>
          </a:solidFill>
          <a:ln w="12700">
            <a:solidFill>
              <a:srgbClr val="0E16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scripts/build.py --mock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1031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架空データで通し確認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10881360" cy="457200"/>
          </a:xfrm>
          <a:prstGeom prst="rect">
            <a:avLst/>
          </a:prstGeom>
          <a:solidFill>
            <a:srgbClr val="18242D"/>
          </a:solidFill>
          <a:ln w="12700">
            <a:solidFill>
              <a:srgbClr val="0E16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651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scripts/build.py --full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651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実データを履歴ごと取り直す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10881360" cy="457200"/>
          </a:xfrm>
          <a:prstGeom prst="rect">
            <a:avLst/>
          </a:prstGeom>
          <a:solidFill>
            <a:srgbClr val="0E161C"/>
          </a:solidFill>
          <a:ln w="12700">
            <a:solidFill>
              <a:srgbClr val="0E16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200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scripts/daily.py --test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200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いますぐLINEに1通テスト送信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10881360" cy="457200"/>
          </a:xfrm>
          <a:prstGeom prst="rect">
            <a:avLst/>
          </a:prstGeom>
          <a:solidFill>
            <a:srgbClr val="18242D"/>
          </a:solidFill>
          <a:ln w="12700">
            <a:solidFill>
              <a:srgbClr val="0E16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749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scripts/daily.py --mock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3749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架空データで朝の便りの画像を作る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10881360" cy="457200"/>
          </a:xfrm>
          <a:prstGeom prst="rect">
            <a:avLst/>
          </a:prstGeom>
          <a:solidFill>
            <a:srgbClr val="0E161C"/>
          </a:solidFill>
          <a:ln w="12700">
            <a:solidFill>
              <a:srgbClr val="0E16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297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scripts/daily.py --dry-run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4297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実データで組み立て、中身を表示（送らない）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solidFill>
            <a:srgbClr val="18242D"/>
          </a:solidFill>
          <a:ln w="12700">
            <a:solidFill>
              <a:srgbClr val="0E161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846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scripts/probe.py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4846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銘柄記号が本当に取れるか実際に叩いて確かめる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solidFill>
            <a:srgbClr val="0E161C"/>
          </a:solidFill>
          <a:ln w="12700">
            <a:solidFill>
              <a:srgbClr val="0E161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394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http.server 8000 -d docs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126480" y="5394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http://localhost:8000 で画面を確認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603504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605332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 では set LINE_TOKEN=… と set LINE_USER_ID=… を先に実行してから。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止まったときに見る順番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運用編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91056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0934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554480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Actions タブを開く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847088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赤い×＝落ちている／何も無い＝予約が発火していない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395728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4140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359152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落ちたステップのログを見る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2651760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セルフテストで落ちていれば配信されない。これは正しい動作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21868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163824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Settings → Pages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3456432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ソースが GitHub Actions になっているか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005072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0233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" y="3968496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Settings → Environments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4261104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github-pages に承認待ちが付いていないか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809744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8280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" y="4773168"/>
            <a:ext cx="1044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にコミットを1つ入れる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" y="5065776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予約が登録されないときの、GitHub 公式の対処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71500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573328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60日間コミットが無いと予約は自動停止します。そのときは Actions タブに再開のボタンが出ます。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壊れても止まらないための仕掛け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運用編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solidFill>
            <a:srgbClr val="1E2E39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5448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起きうること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55448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どうなるか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92024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計算が壊れた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144768" y="192024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セルフテストで止まり、配信しない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28600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銘柄の取得に失敗した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144768" y="228600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前回値を残し、銘柄名を挙げて画面に警告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65176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265176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画像がまだ公開されていない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144768" y="265176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約1時間待ち、駄目なら文字だけ送る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01752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01752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Flexが弾かれた（400）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144768" y="301752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文字だけで送り直す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38328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338328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CDNが古い画像を返している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144768" y="338328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バイト数まで照合して気づく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374904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374904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同じ日に2回実行された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144768" y="374904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送信済みの日付を見て、二度送らない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" y="411480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標本が足りない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144768" y="411480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グラフを描かず、理由を表示する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75488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77316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いずれも「黙って落とさない・黙って古い値を出さない」という一点に集約されます。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553212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FFEB3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555040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数を確保するために統計の基準を下げることはしません。足りなければ「足りない」と出し続けます。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 II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06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数字の意味と、売買判断に使ってよいかどうか。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読む前に押さえる3つの前提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6596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0025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7190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確定した日足と現値は別物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12140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アジア市場は取得時点で取引中のことが多く、最終足と現値が数％ずれます。相関の計算には確定足だけを使っています。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38328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41985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1363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利回りは差分、価格は変化率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53872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4.50%→4.79% を「+6.4%」と書くのは誤り。正しくは +0.29pt。銘柄ごとに単位を定義しています。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80060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83717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6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日本国債は「価格」であって利回りではない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9560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日本の利回りはYahooから取得できず（11記号を実測、全て404）、国債ETFの価格で代用しています。金利が上がると下がります。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94360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96188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Yahooが返す通貨は当てにしていません。VIXも米国債利回りも "USD" と返ってきます。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zスコア — 「いつもと違う」の物差し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その日の変化が、過去1年の分布の中でどれだけ端にあるかを標準偏差の数で表したもの。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D2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 =（今日の変化 − 過去1年の平均）÷ 過去1年の標準偏差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価格は変化率、利回りは差分（pt）で計算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±2σ … 20営業日に1度程度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±2.5σ … 通知が飛ぶ水準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±4σ以上 … 年に数回あるかどうか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落とし穴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708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金融のリターンは正規分布ではありません。裾が厚いので、4σや5σは理論上の頻度よりずっと多く出ます。「4σだから異常」ではなく「平時よりは珍しい」程度に読んでください。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8242D"/>
          </a:solidFill>
          <a:ln w="19050">
            <a:solidFill>
              <a:srgbClr val="FFEB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349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売買判断に使ってよいか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3492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単独では不可。何が起きたかを調べる入口として使う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今日の異常 — 値動きと関係を分けて出す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全指標のzスコア順。「値動きの異常」と「関係の変化」を別の欄に分けています。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D2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値動き … 各銘柄の日次変化のz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関係の変化 … 30日相関が1年平均から離れた度合いのz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上に出るほど普段と違う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同じ方向に並んだら、共通の要因が動いている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ばらばらなら、個別の事情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落とし穴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708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「異常＝悪いこと」ではありません。単に頻度が低いという意味です。また46銘柄を毎日見ているので、どれか1つが2σを超えるのはむしろ普通です（多重比較）。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8242D"/>
          </a:solidFill>
          <a:ln w="19050">
            <a:solidFill>
              <a:srgbClr val="FFEB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349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売買判断に使ってよいか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3492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入口としては有用。単独の売買根拠にはならない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リスク選好 — 市場全体の温度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株式・VIX・銅金比・長期金利・ドルの5つの5日変化をzスコアにして平均し、−100〜+100に収めたもの。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D2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5成分のzの平均を tanh で圧縮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+100に近い＝リスクオン、−100＝リスクオフ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±60を超えると通知が飛ぶ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水準より「向きの変化」を見る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内訳も画面に出るので、どの成分が効いているか確認できる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落とし穴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708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5つの成分は互いに相関しています。独立した5票ではなく、実質的にはもっと少ない情報量です。極端な値でも「5つが揃った」わけではありません。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8242D"/>
          </a:solidFill>
          <a:ln w="19050">
            <a:solidFill>
              <a:srgbClr val="3FD6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349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売買判断に使ってよいか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3492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D6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地合いの把握には有用。エントリーのタイミングには使えない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ビットコインの分解 — αとβ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BTCの日次リターンをS&amp;P500の日次リターンで単回帰し、株式で説明できる分と固有の分に分けます。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D2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BTC日次 = α + β × SPX日次 + 誤差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最小二乗法・過去252営業日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「説明できる分」は β×SPX のみ（αは固有側）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β … S&amp;P500が1%動いたときBTCが何%動くか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α … 株式が動かない日の平均的な動き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R² … 全体の何割を株式で説明できるか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落とし穴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708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R²が0.2前後なら、8割はS&amp;P500と無関係に動いているということです。βは推定値であり、期間の取り方で変わります。90日βと252日βは一致しません。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8242D"/>
          </a:solidFill>
          <a:ln w="19050">
            <a:solidFill>
              <a:srgbClr val="3FD6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349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売買判断に使ってよいか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3492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D6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分散が効いているかの判断に使える。方向の予測には使えない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連動の推移 — 30日ローリング相関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BTCと4資産（S&amp;P500・ナスダック100・金・ドル指数）の30日相関を日々計算して並べたもの。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D2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直近30営業日の日次リターンで相関を計算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95%信頼区間はフィッシャーz変換で算出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+1に近い＝同じ方向に動く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0付近＝無関係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−1に近い＝逆方向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落とし穴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708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30日は標本が少なく、信頼区間はかなり広くなります。「+0.09」と出ていても、実際は −0.28 〜 +0.43 のどこか、ということが起こります。幅を見ずに水準だけ読まないでください。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8242D"/>
          </a:solidFill>
          <a:ln w="19050">
            <a:solidFill>
              <a:srgbClr val="3FD6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349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売買判断に使ってよいか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3492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D6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分散の効き具合を見るのに有用。ただし必ず信頼区間とセットで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相関の壊れ度 — 分散が効かなくなる瞬間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全ペアについて「30日相関 − 1年相関」を計算し、離れている順に並べたもの。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D2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30日相関から1年相関を引いた差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その差をzスコア化して順位付け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プラスに大きい＝普段より連動している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マイナスに大きい＝連動が崩れている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複数ペアが同時に跳ねたら地合いの変化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落とし穴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708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相関が上がる局面では、複数銘柄に分けていても実質1銘柄と同じになります。「分散しているから安全」という前提が崩れるのはここです。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8242D"/>
          </a:solidFill>
          <a:ln w="19050">
            <a:solidFill>
              <a:srgbClr val="3FD6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349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売買判断に使ってよいか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3492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D6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リスク管理には直接使える。turtle_v2 の集中リスクの前兆になる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リード・ラグ — どちらが先に動くか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2資産の系列を±7日ずらして相関を計算し、最も高くなるずれ幅を探します。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D2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−7日〜+7日でずらして相関を計算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最大になる位置を「先行日数」として表示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正の位置に山＝相手が先行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負の位置に山＝こちらが先行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山が平ら＝どちらとも言えない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落とし穴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708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この手法は「見つかるまで探す」性質があります。15通り試せば偶然の山が立ちます。山の高さが他と大差ないなら、それは発見ではなく偶然です。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8242D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349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売買判断に使ってよいか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3492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単独では使わない。仮説を思いつく材料まで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曜日と月のくせ — 弱いものは弱いと書く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日次リターンを曜日別・月別に集計し、平均・勝率・標本数をセルに出したもの。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D2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各セルで平均・勝率・標本数を集計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t値が2未満のセルは点線で囲む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濃い緑＝平均がプラス、濃い赤＝マイナス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点線のセルは偶然の範囲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標本数（回数）を必ず見る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落とし穴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708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曜日や月の効果は、期間を変えると消えることが多いアノマリーです。5曜日×12か月で60通り試せば、いくつかは偶然2σを超えます。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8242D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349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売買判断に使ってよいか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3492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売買根拠にしない。点線が付いていないセルも同様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分布の中の位置 — パーセンタイル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過去2年の日次リターンの分布を描き、直近の値がどこに刺さるかを示します。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D2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過去504営業日の分布をヒストグラムに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直近値の下側に何%が入るかを計算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84パーセンタイル＝上から16%の位置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端に寄るほど珍しい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画面には「およそ何営業日に1度か」も出ます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落とし穴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708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zスコアと違い、分布の形をそのまま使うので裾の厚さに影響されません。ただし過去2年という期間の取り方には依存します。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8242D"/>
          </a:solidFill>
          <a:ln w="19050">
            <a:solidFill>
              <a:srgbClr val="3FD6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349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売買判断に使ってよいか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3492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D6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「今日の動きは珍しいのか」を判断するには、zより素直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似た局面のその後 — 予測ではない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いまと似た条件だった日を過去から探し、その日を起点0%としたBTCの累積リターンの散らばりを集計します。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D2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条件に該当した日を抽出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連続した日をひとまとまり（局面）として数える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20営業日後までのパーセンタイル帯を描く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帯の幅＝ばらつき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中央値＝真ん中の実績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幅が広ければ「何とも言えない」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落とし穴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708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独立した局面が15回に満たなければ、グラフを描かず理由を表示します。BTCの日足がCoinbaseから約350日ぶんしか取れないため、該当が5局面程度にしかならず、表示されないことが多いのが現状です。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8242D"/>
          </a:solidFill>
          <a:ln w="19050">
            <a:solidFill>
              <a:srgbClr val="FFEB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349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売買判断に使ってよいか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3492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表示されたとしても、過去の実績分布であって予測ではない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B4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暗号資産の温度 — 4つの外部指標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恐怖強欲指数・BTCドミナンス・資金調達レート・建玉を並べたもの。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D2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恐怖強欲 … alternative.me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ドミナンス … CoinGecko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資金調達・建玉 … Hyperliquid（1時間値を年率換算）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E2E39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恐怖強欲 0〜100。高いほど強欲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ドミナンス上昇＝アルト弱い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資金調達プラス＝ロングが手数料を払っている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8242D"/>
          </a:solidFill>
          <a:ln w="12700">
            <a:solidFill>
              <a:srgbClr val="293B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落とし穴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708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資金調達レートは Hyperliquid のもので、取引所ごとに違います。市場全体の総意ではありません。年率換算は 1時間値×24×365 の単純換算です。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8242D"/>
          </a:solidFill>
          <a:ln w="19050">
            <a:solidFill>
              <a:srgbClr val="3FD6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349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売買判断に使ってよいか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3492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D6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過熱感の把握には有用。arb_v1 の候補探索の入口にもなる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この数字を売買に使ってよいか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指標編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solidFill>
            <a:srgbClr val="1E2E39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4630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950208" y="146304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146304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288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相関の壊れ度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950208" y="182880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D6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使える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144768" y="182880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リスク管理に直結。分散が効かない瞬間が分かる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19456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219456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リスク選好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21945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D6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補助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144768" y="219456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地合いの把握。タイミングには使えない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56032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256032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BTCの分解（β・R²）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50208" y="256032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D6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補助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44768" y="256032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株式との連動度合いの把握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92608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29260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連動の推移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950208" y="292608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D6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補助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144768" y="292608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必ず信頼区間とセットで読む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32918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分布の中の位置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950208" y="329184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D6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補助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144768" y="329184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珍しさの判断は素直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65760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" y="36576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暗号資産の温度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950208" y="365760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D6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補助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144768" y="365760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過熱感。単独では不可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9808" y="402336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zスコア／今日の異常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950208" y="40233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入口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144768" y="402336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多重比較の問題。調べる きっかけまで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438912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9808" y="438912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似た局面のその後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950208" y="438912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入口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144768" y="438912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標本不足。予測ではない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475488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9808" y="47548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リード・ラグ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3950208" y="475488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使わない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144768" y="475488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探索的すぎる。偶然の山が立つ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solidFill>
            <a:srgbClr val="18242D"/>
          </a:solidFill>
          <a:ln w="6350">
            <a:solidFill>
              <a:srgbClr val="293B4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9808" y="512064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曜日と月のくせ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3950208" y="512064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使わない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144768" y="512064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期間を変えると消えるアノマリー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" y="576072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1E2E39"/>
          </a:solidFill>
          <a:ln w="12700">
            <a:solidFill>
              <a:srgbClr val="FFEB3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22960" y="577900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B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この判定は潮目の設計者としての見解であり、投資助言ではありません。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0F1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進め方の約束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496312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3774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推定ではなく実測で判断する。疎通確認を先に走らせてから設計を決める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00837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8895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数値の出典を必ず明示する。実測値か架空データかを画面にもコードにも書く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4015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ミスは隠さず先に報告する。自分のバグを見つけたら、成果より先に書く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032504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9136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完成したファイル一式で納品する。差分パッチ形式では渡さない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544568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44256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セルフテストとコンパイルを通してから渡す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056632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4937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統計的に弱いものは弱いと画面に書く。標本が足りなければ表示しない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56869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54498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F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数を確保するために基準を下げない。足りなければ「足りない」と出し続ける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潮目 — 運用と指標の手引き　2026年9月版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潮目 — 運用と指標の手引き</dc:title>
  <dc:subject>PptxGenJS Presentation</dc:subject>
  <dc:creator>潮目</dc:creator>
  <cp:lastModifiedBy>潮目</cp:lastModifiedBy>
  <cp:revision>1</cp:revision>
  <dcterms:created xsi:type="dcterms:W3CDTF">2026-09-04T03:37:05Z</dcterms:created>
  <dcterms:modified xsi:type="dcterms:W3CDTF">2026-09-04T03:37:05Z</dcterms:modified>
</cp:coreProperties>
</file>